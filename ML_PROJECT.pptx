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259" r:id="rId4"/>
    <p:sldId id="273" r:id="rId5"/>
    <p:sldId id="262" r:id="rId6"/>
    <p:sldId id="271" r:id="rId7"/>
    <p:sldId id="263" r:id="rId8"/>
    <p:sldId id="260" r:id="rId9"/>
    <p:sldId id="264" r:id="rId10"/>
    <p:sldId id="267" r:id="rId11"/>
    <p:sldId id="265" r:id="rId12"/>
    <p:sldId id="266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2FAF5-6389-4E40-946F-9659ECFA3CEB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D74C0-9F50-4BB0-A7DC-7EE4A48B4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68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D74C0-9F50-4BB0-A7DC-7EE4A48B4B42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37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7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66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376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68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60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8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80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62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96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74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35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796D73-97A8-4D70-BE67-D8B01CAD47C8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2324A44-9A58-4987-BFD4-6317663D05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7542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lose up of a shell&#10;&#10;AI-generated content may be incorrect.">
            <a:extLst>
              <a:ext uri="{FF2B5EF4-FFF2-40B4-BE49-F238E27FC236}">
                <a16:creationId xmlns:a16="http://schemas.microsoft.com/office/drawing/2014/main" id="{813F4096-E121-221E-EC7F-55EC615C5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5" b="15460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635F1-11A0-FAFC-5E3C-E9E9817A6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IN" sz="5400" b="1" i="1" dirty="0">
                <a:solidFill>
                  <a:srgbClr val="FFFF00"/>
                </a:solidFill>
                <a:latin typeface="Aptos" panose="020B0004020202020204" pitchFamily="34" charset="0"/>
              </a:rPr>
              <a:t>ABALONE DATASET</a:t>
            </a:r>
            <a:endParaRPr lang="en-IN" sz="5400" b="1" dirty="0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C3C14-59C7-5238-0218-5FFFFE5D9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820" y="4374707"/>
            <a:ext cx="3973386" cy="1485319"/>
          </a:xfrm>
          <a:noFill/>
        </p:spPr>
        <p:txBody>
          <a:bodyPr>
            <a:normAutofit/>
          </a:bodyPr>
          <a:lstStyle/>
          <a:p>
            <a:r>
              <a:rPr lang="en-IN" dirty="0"/>
              <a:t>Data Analysis &amp; Cleaning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048085-45CF-3B1C-AF1A-55D4C4B71906}"/>
              </a:ext>
            </a:extLst>
          </p:cNvPr>
          <p:cNvSpPr txBox="1"/>
          <p:nvPr/>
        </p:nvSpPr>
        <p:spPr>
          <a:xfrm>
            <a:off x="8662219" y="5860026"/>
            <a:ext cx="336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pPr algn="r"/>
            <a:r>
              <a:rPr lang="en-IN" dirty="0"/>
              <a:t>YASH PAWAR (1332240242)</a:t>
            </a:r>
          </a:p>
          <a:p>
            <a:pPr algn="r"/>
            <a:r>
              <a:rPr lang="en-IN" dirty="0"/>
              <a:t>Gaurika Ghosh (1332240386)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72AA3-2A53-6D61-92DF-EA3ED3F38C61}"/>
              </a:ext>
            </a:extLst>
          </p:cNvPr>
          <p:cNvSpPr txBox="1"/>
          <p:nvPr/>
        </p:nvSpPr>
        <p:spPr>
          <a:xfrm>
            <a:off x="678984" y="4763413"/>
            <a:ext cx="3903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Introduction To Machine Learning </a:t>
            </a:r>
          </a:p>
        </p:txBody>
      </p:sp>
    </p:spTree>
    <p:extLst>
      <p:ext uri="{BB962C8B-B14F-4D97-AF65-F5344CB8AC3E}">
        <p14:creationId xmlns:p14="http://schemas.microsoft.com/office/powerpoint/2010/main" val="367133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close up of a shell&#10;&#10;AI-generated content may be incorrect.">
            <a:extLst>
              <a:ext uri="{FF2B5EF4-FFF2-40B4-BE49-F238E27FC236}">
                <a16:creationId xmlns:a16="http://schemas.microsoft.com/office/drawing/2014/main" id="{ADB164E1-09C5-2679-92DE-4371CEB8E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5" b="15460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42054-5BDA-74CE-49E7-514F16486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00"/>
                </a:solidFill>
              </a:rPr>
              <a:t>About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40AE3-392B-89DE-D0BB-D3214557B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700" dirty="0"/>
              <a:t>This dataset contains physical measurements of </a:t>
            </a:r>
            <a:r>
              <a:rPr lang="en-US" sz="1700" b="1" dirty="0"/>
              <a:t>abalone</a:t>
            </a:r>
            <a:r>
              <a:rPr lang="en-US" sz="1700" dirty="0"/>
              <a:t>, a marine organism.</a:t>
            </a:r>
          </a:p>
          <a:p>
            <a:r>
              <a:rPr lang="en-US" sz="1700" dirty="0"/>
              <a:t>The goal is to analyze how different measurements relate to each other.</a:t>
            </a:r>
          </a:p>
          <a:p>
            <a:r>
              <a:rPr lang="en-US" sz="1700" dirty="0"/>
              <a:t>The dataset includes </a:t>
            </a:r>
            <a:r>
              <a:rPr lang="en-US" sz="1700" b="1" dirty="0"/>
              <a:t>8 numerical features</a:t>
            </a:r>
            <a:r>
              <a:rPr lang="en-US" sz="1700" dirty="0"/>
              <a:t> plus </a:t>
            </a:r>
            <a:r>
              <a:rPr lang="en-US" sz="1700" b="1" dirty="0"/>
              <a:t>Rings</a:t>
            </a:r>
            <a:r>
              <a:rPr lang="en-US" sz="1700" dirty="0"/>
              <a:t>, which is a count of rings on the shell.</a:t>
            </a:r>
          </a:p>
          <a:p>
            <a:r>
              <a:rPr lang="en-US" sz="1700" dirty="0"/>
              <a:t>Commonly used for data analysis, pattern identification, and machine learning tasks.</a:t>
            </a:r>
          </a:p>
        </p:txBody>
      </p:sp>
    </p:spTree>
    <p:extLst>
      <p:ext uri="{BB962C8B-B14F-4D97-AF65-F5344CB8AC3E}">
        <p14:creationId xmlns:p14="http://schemas.microsoft.com/office/powerpoint/2010/main" val="1468597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AA98D3-F6EE-449B-5554-88DA59BE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close up of a shell">
            <a:extLst>
              <a:ext uri="{FF2B5EF4-FFF2-40B4-BE49-F238E27FC236}">
                <a16:creationId xmlns:a16="http://schemas.microsoft.com/office/drawing/2014/main" id="{85DB384F-0952-2E79-53D5-3B3B3206D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5" b="15460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D685AE-B99C-13BF-ED4D-44CD79F23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00"/>
                </a:solidFill>
              </a:rPr>
              <a:t>Column Descriptions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82A40-E8C2-252F-B84F-699EC5094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Length:</a:t>
            </a:r>
            <a:r>
              <a:rPr lang="en-US" altLang="en-US" sz="1600" dirty="0">
                <a:latin typeface="Arial" panose="020B0604020202020204" pitchFamily="34" charset="0"/>
              </a:rPr>
              <a:t> Longest measurement of the shell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Diameter:</a:t>
            </a:r>
            <a:r>
              <a:rPr lang="en-US" altLang="en-US" sz="1600" dirty="0">
                <a:latin typeface="Arial" panose="020B0604020202020204" pitchFamily="34" charset="0"/>
              </a:rPr>
              <a:t> Width measured across the shell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Height:</a:t>
            </a:r>
            <a:r>
              <a:rPr lang="en-US" altLang="en-US" sz="1600" dirty="0">
                <a:latin typeface="Arial" panose="020B0604020202020204" pitchFamily="34" charset="0"/>
              </a:rPr>
              <a:t> Height including shell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Whole Weight:</a:t>
            </a:r>
            <a:r>
              <a:rPr lang="en-US" altLang="en-US" sz="1600" dirty="0">
                <a:latin typeface="Arial" panose="020B0604020202020204" pitchFamily="34" charset="0"/>
              </a:rPr>
              <a:t> Weight of the entire abalone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Shucked Weight:</a:t>
            </a:r>
            <a:r>
              <a:rPr lang="en-US" altLang="en-US" sz="1600" dirty="0">
                <a:latin typeface="Arial" panose="020B0604020202020204" pitchFamily="34" charset="0"/>
              </a:rPr>
              <a:t> Weight of the meat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Viscera Weight:</a:t>
            </a:r>
            <a:r>
              <a:rPr lang="en-US" altLang="en-US" sz="1600" dirty="0">
                <a:latin typeface="Arial" panose="020B0604020202020204" pitchFamily="34" charset="0"/>
              </a:rPr>
              <a:t> Weight of the internal organs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Shell Weight:</a:t>
            </a:r>
            <a:r>
              <a:rPr lang="en-US" altLang="en-US" sz="1600" dirty="0">
                <a:latin typeface="Arial" panose="020B0604020202020204" pitchFamily="34" charset="0"/>
              </a:rPr>
              <a:t> Weight of the dried shell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Rings:</a:t>
            </a:r>
            <a:r>
              <a:rPr lang="en-US" altLang="en-US" sz="1600" dirty="0">
                <a:latin typeface="Arial" panose="020B0604020202020204" pitchFamily="34" charset="0"/>
              </a:rPr>
              <a:t> Count of visible rings on the shell</a:t>
            </a:r>
          </a:p>
        </p:txBody>
      </p:sp>
    </p:spTree>
    <p:extLst>
      <p:ext uri="{BB962C8B-B14F-4D97-AF65-F5344CB8AC3E}">
        <p14:creationId xmlns:p14="http://schemas.microsoft.com/office/powerpoint/2010/main" val="315384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CF6D-4206-4642-A2F9-C1BC6ABD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CODE: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35AD999-65DF-AF77-374C-254495E6A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440" y="768516"/>
            <a:ext cx="8088767" cy="57243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B59F39-0DD2-AB1D-9EC6-72807C6CDC00}"/>
              </a:ext>
            </a:extLst>
          </p:cNvPr>
          <p:cNvSpPr txBox="1"/>
          <p:nvPr/>
        </p:nvSpPr>
        <p:spPr>
          <a:xfrm>
            <a:off x="838200" y="1690688"/>
            <a:ext cx="23007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code removes duplicate rows, calculates column means, fills missing values with those means, and prints the averages.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564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F69DF-16B4-494F-7DBB-3A10095A3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B6C0-DC7D-D54B-A2DD-BB37E11C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Functions Used in Data Cleaning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1610A12-DADC-CA71-06C6-DE9CA35015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296980"/>
            <a:ext cx="5636172" cy="4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 err="1">
                <a:latin typeface="Arial" panose="020B0604020202020204" pitchFamily="34" charset="0"/>
              </a:rPr>
              <a:t>d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f.Fillna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df.Mean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Fill Missing Numeric Values With Mean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 err="1">
                <a:latin typeface="Arial" panose="020B0604020202020204" pitchFamily="34" charset="0"/>
              </a:rPr>
              <a:t>d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f.Drop_duplicates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Remove Duplicate Rows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 err="1">
                <a:latin typeface="Arial" panose="020B0604020202020204" pitchFamily="34" charset="0"/>
              </a:rPr>
              <a:t>d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f.Describe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View Summary Statistics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err="1">
                <a:latin typeface="Arial" panose="020B0604020202020204" pitchFamily="34" charset="0"/>
              </a:rPr>
              <a:t>d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f.</a:t>
            </a:r>
            <a:r>
              <a:rPr lang="en-US" altLang="en-US" sz="2400" b="1" dirty="0" err="1">
                <a:latin typeface="Arial" panose="020B0604020202020204" pitchFamily="34" charset="0"/>
              </a:rPr>
              <a:t>Info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lang="en-US" sz="2400" dirty="0"/>
              <a:t>Quick Summary Of A </a:t>
            </a:r>
            <a:r>
              <a:rPr lang="en-US" sz="2400" dirty="0" err="1"/>
              <a:t>Dataframe</a:t>
            </a:r>
            <a:r>
              <a:rPr lang="en-US" sz="2400" dirty="0"/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Picture 2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1122D02-E014-907D-DA1F-082EE94EA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389" y="1869440"/>
            <a:ext cx="7545609" cy="382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0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A9AB2-BE3A-DA71-AE09-C26DFA53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D446-987F-14F2-6144-7780116D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FFFF00"/>
                </a:solidFill>
              </a:rPr>
              <a:t>Handling Missing Values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09A3DB-350B-6DA8-1AC3-F162E0D21E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13872"/>
            <a:ext cx="5257800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Missing values can affect accuracy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Models may fail or give wrong results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Data must be clean before analysis</a:t>
            </a:r>
          </a:p>
        </p:txBody>
      </p:sp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ADFFAB4-C34F-5898-B6E6-CACF9D77E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343" y="1608082"/>
            <a:ext cx="7421114" cy="328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10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C52EE1-932C-6906-5A93-B80BCA316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01" y="274104"/>
            <a:ext cx="9906199" cy="115724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FF00"/>
                </a:solidFill>
              </a:rPr>
              <a:t>Before Vs After Cleaning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AAC5CF-2496-C9F3-32E5-AC910ED28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577562"/>
              </p:ext>
            </p:extLst>
          </p:nvPr>
        </p:nvGraphicFramePr>
        <p:xfrm>
          <a:off x="914400" y="1297857"/>
          <a:ext cx="10756491" cy="5122610"/>
        </p:xfrm>
        <a:graphic>
          <a:graphicData uri="http://schemas.openxmlformats.org/drawingml/2006/table">
            <a:tbl>
              <a:tblPr firstRow="1" firstCol="1" bandRow="1"/>
              <a:tblGrid>
                <a:gridCol w="2823937">
                  <a:extLst>
                    <a:ext uri="{9D8B030D-6E8A-4147-A177-3AD203B41FA5}">
                      <a16:colId xmlns:a16="http://schemas.microsoft.com/office/drawing/2014/main" val="1411096271"/>
                    </a:ext>
                  </a:extLst>
                </a:gridCol>
                <a:gridCol w="2424267">
                  <a:extLst>
                    <a:ext uri="{9D8B030D-6E8A-4147-A177-3AD203B41FA5}">
                      <a16:colId xmlns:a16="http://schemas.microsoft.com/office/drawing/2014/main" val="3663373961"/>
                    </a:ext>
                  </a:extLst>
                </a:gridCol>
                <a:gridCol w="2871659">
                  <a:extLst>
                    <a:ext uri="{9D8B030D-6E8A-4147-A177-3AD203B41FA5}">
                      <a16:colId xmlns:a16="http://schemas.microsoft.com/office/drawing/2014/main" val="1528660293"/>
                    </a:ext>
                  </a:extLst>
                </a:gridCol>
                <a:gridCol w="2636628">
                  <a:extLst>
                    <a:ext uri="{9D8B030D-6E8A-4147-A177-3AD203B41FA5}">
                      <a16:colId xmlns:a16="http://schemas.microsoft.com/office/drawing/2014/main" val="785635556"/>
                    </a:ext>
                  </a:extLst>
                </a:gridCol>
              </a:tblGrid>
              <a:tr h="5122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 dirty="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Column</a:t>
                      </a:r>
                      <a:endParaRPr lang="en-IN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With Duplicate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Without Duplicate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After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7091"/>
                  </a:ext>
                </a:extLst>
              </a:tr>
              <a:tr h="5122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ID  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4182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4177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4177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741415"/>
                  </a:ext>
                </a:extLst>
              </a:tr>
              <a:tr h="5122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Length 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4163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4158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4177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148068"/>
                  </a:ext>
                </a:extLst>
              </a:tr>
              <a:tr h="5122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Diameter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4159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4155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4177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548172"/>
                  </a:ext>
                </a:extLst>
              </a:tr>
              <a:tr h="5122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Height  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4158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4153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4177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64946"/>
                  </a:ext>
                </a:extLst>
              </a:tr>
              <a:tr h="5122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 dirty="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Whole weight   </a:t>
                      </a:r>
                      <a:endParaRPr lang="en-IN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4153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4148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4177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776656"/>
                  </a:ext>
                </a:extLst>
              </a:tr>
              <a:tr h="5122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Shucked weight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4152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4147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4177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538544"/>
                  </a:ext>
                </a:extLst>
              </a:tr>
              <a:tr h="5122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Viscera weight 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4153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4148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4177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658645"/>
                  </a:ext>
                </a:extLst>
              </a:tr>
              <a:tr h="5122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Shell weight 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4160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4155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4177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555254"/>
                  </a:ext>
                </a:extLst>
              </a:tr>
              <a:tr h="512261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Rings 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4181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4176 non-null</a:t>
                      </a:r>
                      <a:endParaRPr lang="en-IN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0" i="0" u="none" strike="noStrike" kern="100" dirty="0">
                          <a:effectLst/>
                          <a:latin typeface="Aptos" panose="020B000402020202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4177 non-null</a:t>
                      </a:r>
                      <a:endParaRPr lang="en-IN" sz="2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3665" marR="103665" marT="143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321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93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44BD7-8DDD-737C-1C53-4FA5888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69622-B997-08AB-99E0-5B72D764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00"/>
                </a:solidFill>
              </a:rPr>
              <a:t>Summary Statistics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DB1B323-5679-4DF0-8AFF-65880A0798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59117"/>
            <a:ext cx="2268793" cy="37604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dataset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4182 entries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 different size and weight measurements.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Length, diameter, and height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moderate variation.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Weight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larger variation due to differences in body mass.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mostly fall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8 and 11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Minimum and maximum values show the smallest and largest specimens in the dataset.</a:t>
            </a:r>
          </a:p>
        </p:txBody>
      </p:sp>
      <p:pic>
        <p:nvPicPr>
          <p:cNvPr id="6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E4E9CF2-F6F8-F251-3614-7A81F76D6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668" y="2359117"/>
            <a:ext cx="8934032" cy="3563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2F8488-C869-F84B-C36A-65C574119286}"/>
              </a:ext>
            </a:extLst>
          </p:cNvPr>
          <p:cNvSpPr txBox="1"/>
          <p:nvPr/>
        </p:nvSpPr>
        <p:spPr>
          <a:xfrm>
            <a:off x="2677440" y="6045560"/>
            <a:ext cx="966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After cleaning change in only Count that become 4177 values in each Column.</a:t>
            </a:r>
          </a:p>
        </p:txBody>
      </p:sp>
    </p:spTree>
    <p:extLst>
      <p:ext uri="{BB962C8B-B14F-4D97-AF65-F5344CB8AC3E}">
        <p14:creationId xmlns:p14="http://schemas.microsoft.com/office/powerpoint/2010/main" val="3004437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7D5713-5CE9-27CE-2647-254D5DA8B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4680" cy="1087755"/>
          </a:xfrm>
        </p:spPr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Distribution of Length</a:t>
            </a:r>
          </a:p>
        </p:txBody>
      </p:sp>
      <p:pic>
        <p:nvPicPr>
          <p:cNvPr id="5" name="Content Placeholder 4" descr="A graph of a distribution of length&#10;&#10;AI-generated content may be incorrect.">
            <a:extLst>
              <a:ext uri="{FF2B5EF4-FFF2-40B4-BE49-F238E27FC236}">
                <a16:creationId xmlns:a16="http://schemas.microsoft.com/office/drawing/2014/main" id="{2BB49641-D517-4894-D09C-C25CCCBBE2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803498"/>
            <a:ext cx="6466618" cy="4241384"/>
          </a:xfr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393C43D3-EC38-3C0B-13EA-70B86351F1A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8200" y="4012509"/>
            <a:ext cx="4480559" cy="189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The shell length data mostly ranges from </a:t>
            </a:r>
            <a:r>
              <a:rPr lang="en-US" sz="2000" b="1" dirty="0"/>
              <a:t>0.45 to 0.65</a:t>
            </a:r>
            <a:r>
              <a:rPr lang="en-US" sz="2000" dirty="0"/>
              <a:t>, with fewer extreme values. It shows the overall size pattern and is </a:t>
            </a:r>
            <a:r>
              <a:rPr lang="en-US" sz="2000" b="1" dirty="0"/>
              <a:t>slightly right-skewed</a:t>
            </a:r>
            <a:r>
              <a:rPr lang="en-US" sz="2000" dirty="0"/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55490DB-C1F2-53D9-E2AB-14F333F31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3" y="1514851"/>
            <a:ext cx="4886632" cy="230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47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2B20-C01D-40BA-86B9-D4CFD9EB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746743-ABDF-E6C9-55BF-C78D39DB3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4680" cy="1087755"/>
          </a:xfrm>
        </p:spPr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Distribution of Height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FE7D4B-DBE9-71DB-91D8-5313EDBA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759" y="1324792"/>
            <a:ext cx="6587398" cy="510916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D6E0D39-D5A2-7EA4-2E80-9ADC2FA6851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8200" y="4120505"/>
            <a:ext cx="4363065" cy="189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Most height values are between </a:t>
            </a:r>
            <a:r>
              <a:rPr lang="en-US" sz="2000" b="1" dirty="0"/>
              <a:t>0.10 and 0.20</a:t>
            </a:r>
            <a:r>
              <a:rPr lang="en-US" sz="2000" dirty="0"/>
              <a:t>, with little variation and few extremes, showing the general thickness pattern of abalones.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EA1A07C-99FA-5F4E-D713-3F961AC08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98" y="1628624"/>
            <a:ext cx="4949467" cy="221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1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CD2BB-F458-1AAE-B266-1545E447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380C6E1-D7E0-0DF1-BFFB-94074617C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4680" cy="1087755"/>
          </a:xfrm>
        </p:spPr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Distribution of Whole Weight</a:t>
            </a:r>
          </a:p>
        </p:txBody>
      </p:sp>
      <p:pic>
        <p:nvPicPr>
          <p:cNvPr id="3" name="Picture 2" descr="A diagram of a distribution of whole weight&#10;&#10;AI-generated content may be incorrect.">
            <a:extLst>
              <a:ext uri="{FF2B5EF4-FFF2-40B4-BE49-F238E27FC236}">
                <a16:creationId xmlns:a16="http://schemas.microsoft.com/office/drawing/2014/main" id="{7F464A0E-AB70-6815-3F63-57BD0131E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909" y="1452880"/>
            <a:ext cx="6599492" cy="438188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6B66C8BC-4338-CC86-49E8-0F3DB1C74ED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33463" y="4055900"/>
            <a:ext cx="4830446" cy="2356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Whole-weight values mostly fall between </a:t>
            </a:r>
            <a:r>
              <a:rPr lang="en-US" sz="2000" b="1" dirty="0"/>
              <a:t>0.3 and 1.2</a:t>
            </a:r>
            <a:r>
              <a:rPr lang="en-US" sz="2000" dirty="0"/>
              <a:t>, with fewer extremes. The distribution decreases at higher weights, showing overall size and mass variation in abalones.</a:t>
            </a:r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B4F7807-E0F8-2D24-6129-A28644283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6" y="1452880"/>
            <a:ext cx="5363909" cy="264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84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B65CC-FF33-9ED5-331E-A2CF309A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9772914-64C4-AD9A-A5E4-82DCA5475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4680" cy="1087755"/>
          </a:xfrm>
        </p:spPr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Distribution of Rings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AECC4E-C865-3464-8DC2-C050429DB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566" y="1292667"/>
            <a:ext cx="6599492" cy="465197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12DD553-50B5-66E1-CD9C-16A3BB523CA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1451" y="3870673"/>
            <a:ext cx="4830128" cy="2353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Most abalones have </a:t>
            </a:r>
            <a:r>
              <a:rPr lang="en-US" sz="2000" b="1" dirty="0"/>
              <a:t>7 to 12 rings</a:t>
            </a:r>
            <a:r>
              <a:rPr lang="en-US" sz="2000" dirty="0"/>
              <a:t>, while very low and very high counts are rare. The distribution is slightly right-skewed, helping show the overall pattern of ring variation.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2" name="Picture 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D5FF3BB-E09F-7ED4-97DD-F4168BF27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60" y="1368633"/>
            <a:ext cx="5363909" cy="264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45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9938-4A85-E50C-ADD8-65F8C629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6A3A33B-F6F9-9AA9-CC2B-610DC0D9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4680" cy="1087755"/>
          </a:xfrm>
        </p:spPr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Scatter Plot: Length Vs Rings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D2CA310-9A55-0A6A-9C95-BDAA66E60A1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3746" y="3991941"/>
            <a:ext cx="4830128" cy="1894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The plot shows a positive link between length and rings—longer abalones usually have more rings, helping reveal growth trends.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D75C36-203A-D149-9D46-8B0BAC64A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874" y="1222223"/>
            <a:ext cx="6454699" cy="5113643"/>
          </a:xfrm>
          <a:prstGeom prst="rect">
            <a:avLst/>
          </a:prstGeom>
        </p:spPr>
      </p:pic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ED0AA75-5B00-C455-9419-F826B540F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73" y="1406247"/>
            <a:ext cx="5252191" cy="258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5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04B2-28AC-BFCE-7FBA-A74454E9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41FE27-E984-2208-E83F-0F1A31978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4680" cy="1087755"/>
          </a:xfrm>
        </p:spPr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Scatter Plot: Whole Weight Vs Rings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3F6C3A-AD16-6B12-357B-2FA681E48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822" y="1314862"/>
            <a:ext cx="6492803" cy="49030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F7CC0E3-33A7-0F12-5327-2ED87998CBF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79438" y="4140835"/>
            <a:ext cx="4685384" cy="189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The plot shows a clear positive trend: heavier abalones tend to have more rings, with most samples clustered in the mid-weight range.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5" name="Picture 4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6029EB58-0BE6-95C5-BDCC-4C4364680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06" y="1580607"/>
            <a:ext cx="4941016" cy="243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1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lose up of a shell&#10;&#10;AI-generated content may be incorrect.">
            <a:extLst>
              <a:ext uri="{FF2B5EF4-FFF2-40B4-BE49-F238E27FC236}">
                <a16:creationId xmlns:a16="http://schemas.microsoft.com/office/drawing/2014/main" id="{9147DA56-DC7A-E057-7563-447728A24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5" b="15460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279A32E-9677-8892-EF67-E00EB1416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00"/>
                </a:solidFill>
              </a:rPr>
              <a:t>Key Insights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AA88EC4-0E79-E545-823A-7909801934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68129"/>
            <a:ext cx="3822189" cy="43088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fontAlgn="base">
              <a:spcAft>
                <a:spcPts val="600"/>
              </a:spcAft>
            </a:pPr>
            <a:r>
              <a:rPr lang="en-US" altLang="en-US" sz="1600" dirty="0"/>
              <a:t>Length, Height, and Whole Weight show clear distribution patterns, with most values in a central range.</a:t>
            </a:r>
          </a:p>
          <a:p>
            <a:pPr fontAlgn="base">
              <a:spcAft>
                <a:spcPts val="600"/>
              </a:spcAft>
            </a:pPr>
            <a:r>
              <a:rPr lang="en-US" altLang="en-US" sz="1600" dirty="0"/>
              <a:t>Rings distribution shows most samples fall between mid-range ring counts.</a:t>
            </a:r>
          </a:p>
          <a:p>
            <a:pPr fontAlgn="base">
              <a:spcAft>
                <a:spcPts val="600"/>
              </a:spcAft>
            </a:pPr>
            <a:r>
              <a:rPr lang="en-US" altLang="en-US" sz="1600" dirty="0"/>
              <a:t>Scatter plots reveal strong positive patterns — as length and whole weight increase, ring counts also increase.</a:t>
            </a:r>
          </a:p>
          <a:p>
            <a:pPr fontAlgn="base">
              <a:spcAft>
                <a:spcPts val="600"/>
              </a:spcAft>
            </a:pPr>
            <a:r>
              <a:rPr lang="en-US" altLang="en-US" sz="1600" dirty="0"/>
              <a:t>Weight-based features show greater variation than size features.</a:t>
            </a:r>
          </a:p>
          <a:p>
            <a:pPr fontAlgn="base">
              <a:spcAft>
                <a:spcPts val="600"/>
              </a:spcAft>
            </a:pPr>
            <a:r>
              <a:rPr lang="en-US" altLang="en-US" sz="1600" dirty="0"/>
              <a:t>All graphs together show consistent relationships among measurements.</a:t>
            </a:r>
          </a:p>
          <a:p>
            <a:pPr fontAlgn="base">
              <a:spcAft>
                <a:spcPts val="600"/>
              </a:spcAft>
            </a:pPr>
            <a:r>
              <a:rPr lang="en-US" altLang="en-US" sz="1600" dirty="0"/>
              <a:t>These trends make the dataset suitable for pattern analysis, feature exploration, and predictive modeling.</a:t>
            </a:r>
          </a:p>
        </p:txBody>
      </p:sp>
    </p:spTree>
    <p:extLst>
      <p:ext uri="{BB962C8B-B14F-4D97-AF65-F5344CB8AC3E}">
        <p14:creationId xmlns:p14="http://schemas.microsoft.com/office/powerpoint/2010/main" val="3878944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54C639-79D7-C04C-8E77-168846C8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629"/>
            <a:ext cx="10515600" cy="237474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16600" b="1" dirty="0">
                <a:solidFill>
                  <a:srgbClr val="FFFF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11656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683</TotalTime>
  <Words>665</Words>
  <Application>Microsoft Office PowerPoint</Application>
  <PresentationFormat>Widescreen</PresentationFormat>
  <Paragraphs>100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ABALONE DATASET</vt:lpstr>
      <vt:lpstr>About the Dataset</vt:lpstr>
      <vt:lpstr>Column Descriptions</vt:lpstr>
      <vt:lpstr>CODE:</vt:lpstr>
      <vt:lpstr>Functions Used in Data Cleaning</vt:lpstr>
      <vt:lpstr>Handling Missing Values</vt:lpstr>
      <vt:lpstr>Before Vs After Cleaning</vt:lpstr>
      <vt:lpstr>Summary Statistics</vt:lpstr>
      <vt:lpstr>Distribution of Length</vt:lpstr>
      <vt:lpstr>Distribution of Height</vt:lpstr>
      <vt:lpstr>Distribution of Whole Weight</vt:lpstr>
      <vt:lpstr>Distribution of Rings</vt:lpstr>
      <vt:lpstr>Scatter Plot: Length Vs Rings</vt:lpstr>
      <vt:lpstr>Scatter Plot: Whole Weight Vs Rings</vt:lpstr>
      <vt:lpstr>Key 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pawar</dc:creator>
  <cp:lastModifiedBy>raj pawar</cp:lastModifiedBy>
  <cp:revision>16</cp:revision>
  <dcterms:created xsi:type="dcterms:W3CDTF">2025-11-15T05:08:51Z</dcterms:created>
  <dcterms:modified xsi:type="dcterms:W3CDTF">2025-11-17T14:25:14Z</dcterms:modified>
</cp:coreProperties>
</file>